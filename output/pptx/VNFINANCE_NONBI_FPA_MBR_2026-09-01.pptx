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69f4eff96414b" /><Relationship Type="http://schemas.openxmlformats.org/officeDocument/2006/relationships/extended-properties" Target="/docProps/app.xml" Id="Rd5d3e197765d48f2" /><Relationship Type="http://schemas.openxmlformats.org/officeDocument/2006/relationships/officeDocument" Target="/ppt/presentation.xml" Id="Rb416043e6d9f44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c5516768a480c"/>
  </p:sldMasterIdLst>
  <p:notesMasterIdLst>
    <p:notesMasterId xmlns:r="http://schemas.openxmlformats.org/officeDocument/2006/relationships" r:id="Rf37301681d364724"/>
  </p:notesMasterIdLst>
  <p:sldIdLst>
    <p:sldId xmlns:r="http://schemas.openxmlformats.org/officeDocument/2006/relationships" id="256" r:id="Rf20e85af94204a31"/>
    <p:sldId xmlns:r="http://schemas.openxmlformats.org/officeDocument/2006/relationships" id="257" r:id="Rbed8e7b7c76748e3"/>
    <p:sldId xmlns:r="http://schemas.openxmlformats.org/officeDocument/2006/relationships" id="258" r:id="R1bc38037985744bb"/>
    <p:sldId xmlns:r="http://schemas.openxmlformats.org/officeDocument/2006/relationships" id="259" r:id="R6641e37078c44107"/>
    <p:sldId xmlns:r="http://schemas.openxmlformats.org/officeDocument/2006/relationships" id="260" r:id="R726a047f68474226"/>
    <p:sldId xmlns:r="http://schemas.openxmlformats.org/officeDocument/2006/relationships" id="261" r:id="R8a69f0fca2124b15"/>
    <p:sldId xmlns:r="http://schemas.openxmlformats.org/officeDocument/2006/relationships" id="262" r:id="Rbed3df014cb645b3"/>
    <p:sldId xmlns:r="http://schemas.openxmlformats.org/officeDocument/2006/relationships" id="263" r:id="Rd1c578a1809340b2"/>
    <p:sldId xmlns:r="http://schemas.openxmlformats.org/officeDocument/2006/relationships" id="264" r:id="R26b1cdf0728e4a1d"/>
    <p:sldId xmlns:r="http://schemas.openxmlformats.org/officeDocument/2006/relationships" id="265" r:id="Rabb3e6d67f6e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97a03ddde34d93" /><Relationship Type="http://schemas.openxmlformats.org/officeDocument/2006/relationships/slideMaster" Target="/ppt/slideMasters/slideMaster1.xml" Id="R8acc5516768a480c" /><Relationship Type="http://schemas.openxmlformats.org/officeDocument/2006/relationships/notesMaster" Target="/ppt/notesMasters/notesMaster1.xml" Id="Rf37301681d364724" /><Relationship Type="http://schemas.openxmlformats.org/officeDocument/2006/relationships/presProps" Target="/ppt/presProps.xml" Id="R0832eceaf75b4912" /><Relationship Type="http://schemas.openxmlformats.org/officeDocument/2006/relationships/tableStyles" Target="/ppt/tableStyles.xml" Id="R7fec28996fee46d7" /><Relationship Type="http://schemas.openxmlformats.org/officeDocument/2006/relationships/slide" Target="/ppt/slides/slide1.xml" Id="Rf20e85af94204a31" /><Relationship Type="http://schemas.openxmlformats.org/officeDocument/2006/relationships/slide" Target="/ppt/slides/slide2.xml" Id="Rbed8e7b7c76748e3" /><Relationship Type="http://schemas.openxmlformats.org/officeDocument/2006/relationships/slide" Target="/ppt/slides/slide3.xml" Id="R1bc38037985744bb" /><Relationship Type="http://schemas.openxmlformats.org/officeDocument/2006/relationships/slide" Target="/ppt/slides/slide4.xml" Id="R6641e37078c44107" /><Relationship Type="http://schemas.openxmlformats.org/officeDocument/2006/relationships/slide" Target="/ppt/slides/slide5.xml" Id="R726a047f68474226" /><Relationship Type="http://schemas.openxmlformats.org/officeDocument/2006/relationships/slide" Target="/ppt/slides/slide6.xml" Id="R8a69f0fca2124b15" /><Relationship Type="http://schemas.openxmlformats.org/officeDocument/2006/relationships/slide" Target="/ppt/slides/slide7.xml" Id="Rbed3df014cb645b3" /><Relationship Type="http://schemas.openxmlformats.org/officeDocument/2006/relationships/slide" Target="/ppt/slides/slide8.xml" Id="Rd1c578a1809340b2" /><Relationship Type="http://schemas.openxmlformats.org/officeDocument/2006/relationships/slide" Target="/ppt/slides/slide9.xml" Id="R26b1cdf0728e4a1d" /><Relationship Type="http://schemas.openxmlformats.org/officeDocument/2006/relationships/slide" Target="/ppt/slides/slide10.xml" Id="Rabb3e6d67f6e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097377a04f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a9b96348984768" /><Relationship Type="http://schemas.openxmlformats.org/officeDocument/2006/relationships/notesMaster" Target="/ppt/notesMasters/notesMaster1.xml" Id="Rf1af0189cd524f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6e3dd8ccaa49f8" /><Relationship Type="http://schemas.openxmlformats.org/officeDocument/2006/relationships/notesMaster" Target="/ppt/notesMasters/notesMaster1.xml" Id="R27c3a7365f76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40c1dc3c14868" /><Relationship Type="http://schemas.openxmlformats.org/officeDocument/2006/relationships/notesMaster" Target="/ppt/notesMasters/notesMaster1.xml" Id="Rf52c1f1659044e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ff053b604243b8" /><Relationship Type="http://schemas.openxmlformats.org/officeDocument/2006/relationships/notesMaster" Target="/ppt/notesMasters/notesMaster1.xml" Id="R7ce13f373c1a45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47a96a7f24a69" /><Relationship Type="http://schemas.openxmlformats.org/officeDocument/2006/relationships/notesMaster" Target="/ppt/notesMasters/notesMaster1.xml" Id="R60854948739c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6d384d00c4c02" /><Relationship Type="http://schemas.openxmlformats.org/officeDocument/2006/relationships/notesMaster" Target="/ppt/notesMasters/notesMaster1.xml" Id="Rd67933225c4f4f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6003f9bea48e9" /><Relationship Type="http://schemas.openxmlformats.org/officeDocument/2006/relationships/notesMaster" Target="/ppt/notesMasters/notesMaster1.xml" Id="R89a420cbab9f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07048b42d54042" /><Relationship Type="http://schemas.openxmlformats.org/officeDocument/2006/relationships/notesMaster" Target="/ppt/notesMasters/notesMaster1.xml" Id="Rbc19c49b3a7a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aa51b1025a4639" /><Relationship Type="http://schemas.openxmlformats.org/officeDocument/2006/relationships/notesMaster" Target="/ppt/notesMasters/notesMaster1.xml" Id="R9d0eb7be696c4d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01e1ce80824432" /><Relationship Type="http://schemas.openxmlformats.org/officeDocument/2006/relationships/notesMaster" Target="/ppt/notesMasters/notesMaster1.xml" Id="R34deab0bccdb42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data/scenarios/scenario_summary.csv</a:t>
            </a:r>
          </a:p>
          <a:p xmlns:a="http://schemas.openxmlformats.org/drawingml/2006/main">
            <a:r>
              <a:t>docs/VNFINANCE_FPA_NON_POWERBI_GAP_RESEARCH_AND_UPDATE_MASTER_PLAN_2026-09-01.md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data/scenarios/scenario_summary.csv</a:t>
            </a:r>
          </a:p>
          <a:p xmlns:a="http://schemas.openxmlformats.org/drawingml/2006/main">
            <a:r>
              <a:t>reports/MONTHLY_BUSINESS_REVIEW_FINANCE_ANALYST_2026-08-30.md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data/scenarios/scenario_summary.csv</a:t>
            </a:r>
          </a:p>
          <a:p xmlns:a="http://schemas.openxmlformats.org/drawingml/2006/main">
            <a:r>
              <a:t>data/financial_statements/monthly_income_statement.csv</a:t>
            </a:r>
          </a:p>
          <a:p xmlns:a="http://schemas.openxmlformats.org/drawingml/2006/main">
            <a:r>
              <a:t>docs/THREE_STATEMENT_FPA_MODEL_METHODOLOGY.md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data/customer_profitability_synthetic.csv</a:t>
            </a:r>
          </a:p>
          <a:p xmlns:a="http://schemas.openxmlformats.org/drawingml/2006/main">
            <a:r>
              <a:t>data/operational_driver_tree_unit_economics.csv</a:t>
            </a:r>
          </a:p>
          <a:p xmlns:a="http://schemas.openxmlformats.org/drawingml/2006/main">
            <a:r>
              <a:t>reports/MANAGEMENT_RECOMMENDATION_REGISTER_2026-08-30.md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data/financial_statements/monthly_cash_flow.csv</a:t>
            </a:r>
          </a:p>
          <a:p xmlns:a="http://schemas.openxmlformats.org/drawingml/2006/main">
            <a:r>
              <a:t>data/financial_statements/monthly_balance_sheet.csv</a:t>
            </a:r>
          </a:p>
          <a:p xmlns:a="http://schemas.openxmlformats.org/drawingml/2006/main">
            <a:r>
              <a:t>docs/THREE_STATEMENT_FPA_MODEL_METHODOLOGY.md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data/forecast/forecast_backtest_metrics_v2.csv</a:t>
            </a:r>
          </a:p>
          <a:p xmlns:a="http://schemas.openxmlformats.org/drawingml/2006/main">
            <a:r>
              <a:t>data/forecast/forecast_version_bridge_v2.csv</a:t>
            </a:r>
          </a:p>
          <a:p xmlns:a="http://schemas.openxmlformats.org/drawingml/2006/main">
            <a:r>
              <a:t>docs/FORECAST_VERSIONING_BACKTEST_V2.md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data/planning/three_year_operating_plan.csv</a:t>
            </a:r>
          </a:p>
          <a:p xmlns:a="http://schemas.openxmlformats.org/drawingml/2006/main">
            <a:r>
              <a:t>data/planning/operating_plan_initiatives.csv</a:t>
            </a:r>
          </a:p>
          <a:p xmlns:a="http://schemas.openxmlformats.org/drawingml/2006/main">
            <a:r>
              <a:t>docs/THREE_YEAR_DRIVER_BASED_OPERATING_PLAN.md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data/costing/standard_cost_reconciliation.csv</a:t>
            </a:r>
          </a:p>
          <a:p xmlns:a="http://schemas.openxmlformats.org/drawingml/2006/main">
            <a:r>
              <a:t>data/costing/inventory_reserve_monthly.csv</a:t>
            </a:r>
          </a:p>
          <a:p xmlns:a="http://schemas.openxmlformats.org/drawingml/2006/main">
            <a:r>
              <a:t>docs/FMCG_STANDARD_COSTING_AND_VARIANCE.md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reports/MANAGEMENT_RECOMMENDATION_REGISTER_2026-08-30.md</a:t>
            </a:r>
          </a:p>
          <a:p xmlns:a="http://schemas.openxmlformats.org/drawingml/2006/main">
            <a:r>
              <a:t>data/governance/finance_metric_registry.csv</a:t>
            </a:r>
          </a:p>
          <a:p xmlns:a="http://schemas.openxmlformats.org/drawingml/2006/main">
            <a:r>
              <a:t>docs/FINANCE_ANALYST_WALKTHROUGH_SCRIPT_5_MIN.md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reports/NON_POWERBI_RELEASE_GATE_2026-09-01.json</a:t>
            </a:r>
          </a:p>
          <a:p xmlns:a="http://schemas.openxmlformats.org/drawingml/2006/main">
            <a:r>
              <a:t>docs/FORECAST_VERSIONING_BACKTEST_V2.md</a:t>
            </a:r>
          </a:p>
          <a:p xmlns:a="http://schemas.openxmlformats.org/drawingml/2006/main">
            <a:r>
              <a:t>docs/THREE_YEAR_DRIVER_BASED_OPERATING_PLAN.md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1e21c5c4d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e4d93a2e041af" /><Relationship Type="http://schemas.openxmlformats.org/officeDocument/2006/relationships/slideLayout" Target="/ppt/slideLayouts/slideLayout1.xml" Id="R34bbc30ae6de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bc30ae6de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2276e07c4263" /><Relationship Type="http://schemas.openxmlformats.org/officeDocument/2006/relationships/notesSlide" Target="/ppt/notesSlides/notesSlide1.xml" Id="Rc08028df7e09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9af26584743a1" /><Relationship Type="http://schemas.openxmlformats.org/officeDocument/2006/relationships/notesSlide" Target="/ppt/notesSlides/notesSlide2.xml" Id="Rd9dd09c9b84d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8dd1043a4238" /><Relationship Type="http://schemas.openxmlformats.org/officeDocument/2006/relationships/chart" Target="/ppt/slides/charts/chart1.xml" Id="R5ea00dd2da2e42fa" /><Relationship Type="http://schemas.openxmlformats.org/officeDocument/2006/relationships/notesSlide" Target="/ppt/notesSlides/notesSlide3.xml" Id="Rbabba37cb7fe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1e0eab16e4bc8" /><Relationship Type="http://schemas.openxmlformats.org/officeDocument/2006/relationships/chart" Target="/ppt/slides/charts/chart2.xml" Id="R94c758af67f84fa3" /><Relationship Type="http://schemas.openxmlformats.org/officeDocument/2006/relationships/notesSlide" Target="/ppt/notesSlides/notesSlide4.xml" Id="R6cb3b020fd93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784bbf4e04d00" /><Relationship Type="http://schemas.openxmlformats.org/officeDocument/2006/relationships/chart" Target="/ppt/slides/charts/chart3.xml" Id="Rd081e8274928453a" /><Relationship Type="http://schemas.openxmlformats.org/officeDocument/2006/relationships/notesSlide" Target="/ppt/notesSlides/notesSlide5.xml" Id="Rf774db7a052d48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9761a6f24fd8" /><Relationship Type="http://schemas.openxmlformats.org/officeDocument/2006/relationships/chart" Target="/ppt/slides/charts/chart4.xml" Id="R4c35c45a8acf4a56" /><Relationship Type="http://schemas.openxmlformats.org/officeDocument/2006/relationships/notesSlide" Target="/ppt/notesSlides/notesSlide6.xml" Id="Rcdc8daba2647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5d6fa55254302" /><Relationship Type="http://schemas.openxmlformats.org/officeDocument/2006/relationships/chart" Target="/ppt/slides/charts/chart5.xml" Id="R90d9bacadc0343ba" /><Relationship Type="http://schemas.openxmlformats.org/officeDocument/2006/relationships/notesSlide" Target="/ppt/notesSlides/notesSlide7.xml" Id="R5a51ec1eae4b48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458f8101b4351" /><Relationship Type="http://schemas.openxmlformats.org/officeDocument/2006/relationships/chart" Target="/ppt/slides/charts/chart6.xml" Id="Rb4efd75c2b34457f" /><Relationship Type="http://schemas.openxmlformats.org/officeDocument/2006/relationships/notesSlide" Target="/ppt/notesSlides/notesSlide8.xml" Id="R9dc5f0d4330346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753cbe8cc447d" /><Relationship Type="http://schemas.openxmlformats.org/officeDocument/2006/relationships/notesSlide" Target="/ppt/notesSlides/notesSlide9.xml" Id="R3bc9bd6a4e354b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5aa8f73a4451e" /><Relationship Type="http://schemas.openxmlformats.org/officeDocument/2006/relationships/notesSlide" Target="/ppt/notesSlides/notesSlide10.xml" Id="Rab459dfe125545e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VND bn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Lit>
              <c:ptCount val="5"/>
              <c:pt idx="0">
                <c:v>Revenue</c:v>
              </c:pt>
              <c:pt idx="1">
                <c:v>COGS</c:v>
              </c:pt>
              <c:pt idx="2">
                <c:v>Gross profit</c:v>
              </c:pt>
              <c:pt idx="3">
                <c:v>OPEX</c:v>
              </c:pt>
              <c:pt idx="4">
                <c:v>EBITDA proxy</c:v>
              </c:pt>
            </c:strLit>
          </c:cat>
          <c:val>
            <c:numLit>
              <c:formatCode>0.0</c:formatCode>
              <c:ptCount val="5"/>
              <c:pt idx="0">
                <c:v>82.5</c:v>
              </c:pt>
              <c:pt idx="1">
                <c:v>-55.6</c:v>
              </c:pt>
              <c:pt idx="2">
                <c:v>26.9</c:v>
              </c:pt>
              <c:pt idx="3">
                <c:v>-14</c:v>
              </c:pt>
              <c:pt idx="4">
                <c:v>12.9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Impact (VND bn)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Lit>
              <c:ptCount val="6"/>
              <c:pt idx="0">
                <c:v>Volume</c:v>
              </c:pt>
              <c:pt idx="1">
                <c:v>Price</c:v>
              </c:pt>
              <c:pt idx="2">
                <c:v>Mix</c:v>
              </c:pt>
              <c:pt idx="3">
                <c:v>Discounts</c:v>
              </c:pt>
              <c:pt idx="4">
                <c:v>Trade spend</c:v>
              </c:pt>
              <c:pt idx="5">
                <c:v>COGS / GM</c:v>
              </c:pt>
            </c:strLit>
          </c:cat>
          <c:val>
            <c:numLit>
              <c:formatCode>General</c:formatCode>
              <c:ptCount val="6"/>
              <c:pt idx="0">
                <c:v>3.9</c:v>
              </c:pt>
              <c:pt idx="1">
                <c:v>3.2</c:v>
              </c:pt>
              <c:pt idx="2">
                <c:v>0.6</c:v>
              </c:pt>
              <c:pt idx="3">
                <c:v>-2.1</c:v>
              </c:pt>
              <c:pt idx="4">
                <c:v>-0.9</c:v>
              </c:pt>
              <c:pt idx="5">
                <c:v>-1.4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Days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DSO</c:v>
              </c:pt>
              <c:pt idx="1">
                <c:v>DIO</c:v>
              </c:pt>
              <c:pt idx="2">
                <c:v>DPO</c:v>
              </c:pt>
              <c:pt idx="3">
                <c:v>CCC</c:v>
              </c:pt>
            </c:strLit>
          </c:cat>
          <c:val>
            <c:numLit>
              <c:formatCode>0</c:formatCode>
              <c:ptCount val="4"/>
              <c:pt idx="0">
                <c:v>176.59</c:v>
              </c:pt>
              <c:pt idx="1">
                <c:v>180.43</c:v>
              </c:pt>
              <c:pt idx="2">
                <c:v>199.56</c:v>
              </c:pt>
              <c:pt idx="3">
                <c:v>157.45999999999998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WAPE %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5"/>
              <c:pt idx="0">
                <c:v>Budget</c:v>
              </c:pt>
              <c:pt idx="1">
                <c:v>RF1</c:v>
              </c:pt>
              <c:pt idx="2">
                <c:v>RF2</c:v>
              </c:pt>
              <c:pt idx="3">
                <c:v>RF3</c:v>
              </c:pt>
              <c:pt idx="4">
                <c:v>Latest est.</c:v>
              </c:pt>
            </c:strLit>
          </c:cat>
          <c:val>
            <c:numLit>
              <c:formatCode>0%</c:formatCode>
              <c:ptCount val="5"/>
              <c:pt idx="0">
                <c:v>8</c:v>
              </c:pt>
              <c:pt idx="1">
                <c:v>5</c:v>
              </c:pt>
              <c:pt idx="2">
                <c:v>3</c:v>
              </c:pt>
              <c:pt idx="3">
                <c:v>1.5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Base</c:v>
          </c:tx>
          <c:spPr>
            <a:ln xmlns:a="http://schemas.openxmlformats.org/drawingml/2006/main" w="28575">
              <a:solidFill>
                <a:srgbClr val="0F766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F766E"/>
              </a:solidFill>
            </c:spPr>
          </c:marker>
          <c:cat>
            <c:strLit>
              <c:ptCount val="3"/>
              <c:pt idx="0">
                <c:v>FY2026</c:v>
              </c:pt>
              <c:pt idx="1">
                <c:v>FY2027</c:v>
              </c:pt>
              <c:pt idx="2">
                <c:v>FY2028</c:v>
              </c:pt>
            </c:strLit>
          </c:cat>
          <c:val>
            <c:numLit>
              <c:formatCode>0</c:formatCode>
              <c:ptCount val="3"/>
              <c:pt idx="0">
                <c:v>13.32619218626</c:v>
              </c:pt>
              <c:pt idx="1">
                <c:v>14.12576371744</c:v>
              </c:pt>
              <c:pt idx="2">
                <c:v>14.97330954048</c:v>
              </c:pt>
            </c:numLit>
          </c:val>
          <c:smooth val="0"/>
        </c:ser>
        <c:ser>
          <c:idx val="1"/>
          <c:order val="1"/>
          <c:tx>
            <c:v>Upside</c:v>
          </c:tx>
          <c:spPr>
            <a:ln xmlns:a="http://schemas.openxmlformats.org/drawingml/2006/main" w="28575">
              <a:solidFill>
                <a:srgbClr val="15803D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15803D"/>
              </a:solidFill>
            </c:spPr>
          </c:marker>
          <c:cat>
            <c:strLit>
              <c:ptCount val="3"/>
              <c:pt idx="0">
                <c:v>FY2026</c:v>
              </c:pt>
              <c:pt idx="1">
                <c:v>FY2027</c:v>
              </c:pt>
              <c:pt idx="2">
                <c:v>FY2028</c:v>
              </c:pt>
            </c:strLit>
          </c:cat>
          <c:val>
            <c:numLit>
              <c:formatCode>0</c:formatCode>
              <c:ptCount val="3"/>
              <c:pt idx="0">
                <c:v>13.8290673631</c:v>
              </c:pt>
              <c:pt idx="1">
                <c:v>15.211974099410002</c:v>
              </c:pt>
              <c:pt idx="2">
                <c:v>16.73317150935</c:v>
              </c:pt>
            </c:numLit>
          </c:val>
          <c:smooth val="0"/>
        </c:ser>
        <c:ser>
          <c:idx val="2"/>
          <c:order val="2"/>
          <c:tx>
            <c:v>Downside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B42318"/>
              </a:solidFill>
            </c:spPr>
          </c:marker>
          <c:cat>
            <c:strLit>
              <c:ptCount val="3"/>
              <c:pt idx="0">
                <c:v>FY2026</c:v>
              </c:pt>
              <c:pt idx="1">
                <c:v>FY2027</c:v>
              </c:pt>
              <c:pt idx="2">
                <c:v>FY2028</c:v>
              </c:pt>
            </c:strLit>
          </c:cat>
          <c:val>
            <c:numLit>
              <c:formatCode>0</c:formatCode>
              <c:ptCount val="3"/>
              <c:pt idx="0">
                <c:v>12.320441832579998</c:v>
              </c:pt>
              <c:pt idx="1">
                <c:v>12.07403299593</c:v>
              </c:pt>
              <c:pt idx="2">
                <c:v>11.83255233601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8658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VND bn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Purchase price</c:v>
              </c:pt>
              <c:pt idx="1">
                <c:v>Usage / yield</c:v>
              </c:pt>
              <c:pt idx="2">
                <c:v>Conversion</c:v>
              </c:pt>
              <c:pt idx="3">
                <c:v>Total bridge</c:v>
              </c:pt>
            </c:strLit>
          </c:cat>
          <c:val>
            <c:numLit>
              <c:formatCode>0.0</c:formatCode>
              <c:ptCount val="4"/>
              <c:pt idx="0">
                <c:v>0.43657115372000005</c:v>
              </c:pt>
              <c:pt idx="1">
                <c:v>0.0842823956</c:v>
              </c:pt>
              <c:pt idx="2">
                <c:v>0.011550296679999995</c:v>
              </c:pt>
              <c:pt idx="3">
                <c:v>0.5324038460000001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2F45E-00EE-4592-9130-935B36D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4B0DF-1147-42B0-9111-912A5F05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EE3CF"/>
                </a:solidFill>
              </a:defRPr>
            </a:pPr>
            <a:r>
              <a:rPr sz="1125" b="1" i="0">
                <a:solidFill>
                  <a:srgbClr val="8EE3CF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92E46-F4DC-46BE-8BF5-8AF9D399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Monthly operating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D693-3CDE-4278-8669-E41AC6C9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9F5F0"/>
                </a:solidFill>
              </a:defRPr>
            </a:pPr>
            <a:r>
              <a:rPr sz="1950" b="0" i="0">
                <a:solidFill>
                  <a:srgbClr val="D9F5F0"/>
                </a:solidFill>
              </a:rPr>
              <a:t>Growth is investable only when contribution converts into cash.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D7D94-3098-4532-95C3-8EFAD5B3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C8D8"/>
                </a:solidFill>
              </a:defRPr>
            </a:pPr>
            <a:r>
              <a:rPr sz="1200" b="0" i="0">
                <a:solidFill>
                  <a:srgbClr val="A9C8D8"/>
                </a:solidFill>
              </a:rPr>
              <a:t>FY2025 planning snapshot • decision pack for CFO / business finance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79230-DBAA-4BF8-84E0-9FE255D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385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9525">
            <a:solidFill>
              <a:srgbClr val="1E5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9B5B9-D450-48D1-A500-81E7C7C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EE3CF"/>
                </a:solidFill>
              </a:defRPr>
            </a:pPr>
            <a:r>
              <a:rPr sz="1050" b="1" i="0">
                <a:solidFill>
                  <a:srgbClr val="8EE3CF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4864A-76D6-4989-9184-5785B25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Approve the base plan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with cash gates.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CE114-8209-48A5-B0FA-5C29BA8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6DCE7"/>
                </a:solidFill>
              </a:defRPr>
            </a:pPr>
            <a:r>
              <a:rPr sz="1050" b="0" i="0">
                <a:solidFill>
                  <a:srgbClr val="C6DCE7"/>
                </a:solidFill>
              </a:rPr>
              <a:t>Escalate any breach of the minimum-cash guardrail before growth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ED3C-5D65-446F-8839-40D3B62F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152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29FA6-6C28-4797-AB13-7DE09E69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solidFill>
              <a:srgbClr val="84CC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7973E-27D7-461C-A916-E44D6306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BASE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74978-34A0-4531-9C36-F84FE9D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82.5 bn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CD139-6EE2-4414-AF0C-20DFFC31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01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4CC16"/>
                </a:solidFill>
              </a:defRPr>
            </a:pPr>
            <a:r>
              <a:rPr sz="1050" b="1" i="0">
                <a:solidFill>
                  <a:srgbClr val="84CC16"/>
                </a:solidFill>
              </a:rPr>
              <a:t>FY2025 · VND bn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68F4C-A0E2-479A-BB91-83F6E1FC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2152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D038C-AAD6-448D-9A1B-CBD226D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solidFill>
              <a:srgbClr val="84CC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637D6-C296-466B-820D-D94E282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BASE EBITDA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9C5E8-86BD-492C-B5EE-0694343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12.9 bn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FA95C-E6B8-4993-9BB8-ED9CB5E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4CC16"/>
                </a:solidFill>
              </a:defRPr>
            </a:pPr>
            <a:r>
              <a:rPr sz="1050" b="1" i="0">
                <a:solidFill>
                  <a:srgbClr val="84CC16"/>
                </a:solidFill>
              </a:rPr>
              <a:t>15.6%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9A184-B183-42CD-9ABD-B9CB8A0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2152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D5530-1EA4-4F7B-B1D1-46B7B164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solidFill>
              <a:srgbClr val="84CC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5F1E9-E3B0-4D8D-8435-ED4EF6D7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CCC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B4758-F1B3-4AED-B0C5-EA13EBF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291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54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8063E-78E4-465D-B421-E2C56B9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101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4CC16"/>
                </a:solidFill>
              </a:defRPr>
            </a:pPr>
            <a:r>
              <a:rPr sz="1050" b="1" i="0">
                <a:solidFill>
                  <a:srgbClr val="84CC16"/>
                </a:solidFill>
              </a:rPr>
              <a:t>cash conversion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1BA2A-8DDB-4C9C-B7E0-3DF0B60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9C8D8"/>
                </a:solidFill>
              </a:defRPr>
            </a:pPr>
            <a:r>
              <a:rPr sz="1050" b="0" i="0">
                <a:solidFill>
                  <a:srgbClr val="A9C8D8"/>
                </a:solidFill>
              </a:rPr>
              <a:t>Evidence boundary: synthetic operating data; all amounts in VND bn unless noted.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A9D32-82D3-4A83-865D-50BEE847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9C8D8"/>
                </a:solidFill>
              </a:defRPr>
            </a:pPr>
            <a:r>
              <a:rPr sz="1050" b="0" i="0">
                <a:solidFill>
                  <a:srgbClr val="A9C8D8"/>
                </a:solidFill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147655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037C7D-A6B3-4726-9590-10B53E64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44E3-9DCC-40D9-8D31-EB9F1C29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E1F09-1BA1-46EC-8100-4553440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EXECUTIVE SCORECARD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3BD98-48DC-415C-94C0-2EC7F44A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The base case is profitable on paper, but the cash profile is the constraint.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AD09F-2E56-4824-AA59-2FA90884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Use the scorecard to frame the operating conversation before reviewing drivers.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EC6FF-105F-4B40-9852-95700C3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7A78F-FB23-4A1A-B786-9F25479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449DE-2C1C-4465-91D1-D058FB6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277AF-9EF1-41BF-BD27-CF9C4BCC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D644C-21BD-4CE9-941F-BF6D66E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82.5 bn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2E33F-4142-4DF0-A32D-36848DC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Base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4A12A-5600-47B2-8755-F140C3B3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4945B-C164-479D-ADBD-0CD15F6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F6FAE-7BD5-4D91-AD4A-309B28B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GROSS PROFIT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DEB6C-9ECB-46D9-8EF2-CD6B740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26.9 bn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D52B-E589-4B3A-B2B3-7016CD8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32.6% margin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CB24-AF77-4A38-95CB-30D9400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9457B-11E6-4E5B-964F-3D5CF19B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6AFD2-D399-4589-A8EF-0F465F0A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EBITDA PROXY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D6921-384B-41CB-8BF8-9B9D6A7B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12.9 bn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18E77-0DEA-4C82-BD40-C1BC2EC2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803D"/>
                </a:solidFill>
              </a:defRPr>
            </a:pPr>
            <a:r>
              <a:rPr sz="1050" b="1" i="0">
                <a:solidFill>
                  <a:srgbClr val="15803D"/>
                </a:solidFill>
              </a:rPr>
              <a:t>15.6% margin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3F359-E70B-4193-869E-5078B3A0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C0CC1-9849-49A4-9E14-8D503A55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3B721-BD79-490F-875E-B03F237D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CCC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803DC-9546-430A-9D68-9B15949C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54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22474-6AE4-4C23-93DA-5338D730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4708"/>
                </a:solidFill>
              </a:defRPr>
            </a:pPr>
            <a:r>
              <a:rPr sz="1050" b="1" i="0">
                <a:solidFill>
                  <a:srgbClr val="B54708"/>
                </a:solidFill>
              </a:rPr>
              <a:t>Base scenario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C15BC-F192-4A91-BBED-2C5F6952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2362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24348-F8A0-4767-BF77-C98C34D1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84435-943C-4BDF-8AF9-3AE02FCE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DOWNSIDE EBITDA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B6CC8-FF7F-4E73-BC89-2AE64FD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3.5 bn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5916AD-57B2-40C9-A334-AAF1EA75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03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2318"/>
                </a:solidFill>
              </a:defRPr>
            </a:pPr>
            <a:r>
              <a:rPr sz="1050" b="1" i="0">
                <a:solidFill>
                  <a:srgbClr val="B42318"/>
                </a:solidFill>
              </a:rPr>
              <a:t>4.5% margin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AF9BE-0690-4A8E-AC6F-0285279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14350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C3C1D-DC6C-4834-A7C4-4A10830C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6283D"/>
                </a:solidFill>
              </a:defRPr>
            </a:pPr>
            <a:r>
              <a:rPr sz="1800" b="1" i="0">
                <a:solidFill>
                  <a:srgbClr val="06283D"/>
                </a:solidFill>
              </a:rPr>
              <a:t>Management read-out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0F7FC-DF34-4BE6-A94C-5DF663F9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766E"/>
                </a:solidFill>
              </a:defRPr>
            </a:pPr>
            <a:r>
              <a:rPr sz="1650" b="1" i="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921B2-C97D-4BCC-A85F-32D33FA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Revenue upside is not enough if discounts and fulfilment absorb the gain.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6AB9B-9595-42A5-888C-E827188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766E"/>
                </a:solidFill>
              </a:defRPr>
            </a:pPr>
            <a:r>
              <a:rPr sz="1650" b="1" i="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476F22-2D25-40EF-9405-D1A0BA1B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CCC is the leading cash signal: protect collection, stock turns and supplier terms.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3E5D7B-28CF-4759-B970-B3D6677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766E"/>
                </a:solidFill>
              </a:defRPr>
            </a:pPr>
            <a:r>
              <a:rPr sz="1650" b="1" i="0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175915-6CD3-4279-B79B-05CF2A66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Downside margin compression requires an explicit spend and inventory response.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C2B852-68D2-418E-95DD-06C3D58B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81375"/>
            <a:ext cx="567690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9525">
            <a:solidFill>
              <a:srgbClr val="06283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3B6831-C9AD-47FC-8597-98C8565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480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EE3CF"/>
                </a:solidFill>
              </a:defRPr>
            </a:pPr>
            <a:r>
              <a:rPr sz="1650" b="1" i="0">
                <a:solidFill>
                  <a:srgbClr val="8EE3CF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F5899E-7053-45E9-9F5B-99AF57B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Keep the base plan while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745F35-919D-4A96-8856-B8FBF76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4CC16"/>
                </a:solidFill>
              </a:defRPr>
            </a:pPr>
            <a:r>
              <a:rPr sz="2100" b="1" i="0">
                <a:solidFill>
                  <a:srgbClr val="84CC16"/>
                </a:solidFill>
              </a:rPr>
              <a:t>margin ≥ 15% and CCC ≤ 58 days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E3739F-5C2D-490C-B5F1-23B3C9B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AF1"/>
                </a:solidFill>
              </a:defRPr>
            </a:pPr>
            <a:r>
              <a:rPr sz="1275" b="0" i="0">
                <a:solidFill>
                  <a:srgbClr val="D9EAF1"/>
                </a:solidFill>
              </a:rPr>
              <a:t>If either threshold is missed for two reviews, move to downside actions and freeze discretionary spend.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BD5EB-0C04-4EE3-82B8-834D62B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4E2D9-C2A8-40B3-BAE7-CD11068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4ED54A-C224-48B8-A976-2A46D6B0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487549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633CF-B38F-43DD-8ACC-36FF4B2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156DA-E874-402C-B3FB-D176B06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4BC1-753E-49FD-A189-44905A5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P&amp;L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1F9EE-A573-4FE2-82BB-F747CB1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The bridge isolates the few levers that can move operating profit.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E6370-2BC7-4EDC-9717-0A9CA210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A finance analyst should make the causal chain visible: volume → price/mix → cost → controllable OPEX.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63BB5-8808-4C0F-AFD6-FBF9081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DEB4-B506-45B1-A153-78537DF6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667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20266-584C-4F9C-8601-819E6EAB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FY2025 base case bridge (VND bn)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19150" y="2762250"/>
          <a:ext xmlns:a="http://schemas.openxmlformats.org/drawingml/2006/main" cx="60007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a00dd2da2e42f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454AE-B3D0-4892-B6A7-8995799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829AB1"/>
                </a:solidFill>
              </a:defRPr>
            </a:pPr>
            <a:r>
              <a:rPr sz="1050" b="0" i="1">
                <a:solidFill>
                  <a:srgbClr val="829AB1"/>
                </a:solidFill>
              </a:rPr>
              <a:t>The model uses EBITDA proxy = gross profit − controllable OPEX; it is not statutory EBITDA.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448AA-5757-4602-AC61-307FB7C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1338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9525">
            <a:solidFill>
              <a:srgbClr val="0628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46DB1-4AC8-4EE6-91F1-C3BEF838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EE3CF"/>
                </a:solidFill>
              </a:defRPr>
            </a:pPr>
            <a:r>
              <a:rPr sz="1800" b="1" i="0">
                <a:solidFill>
                  <a:srgbClr val="8EE3CF"/>
                </a:solidFill>
              </a:rPr>
              <a:t>What to ask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E70A-66C0-4E34-BE8F-F72FDF0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05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4CC16"/>
                </a:solidFill>
              </a:defRPr>
            </a:pPr>
            <a:r>
              <a:rPr sz="1200" b="1" i="0">
                <a:solidFill>
                  <a:srgbClr val="84CC16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0B15-5190-4A39-A59F-1EC25E87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Which channel is buying growth with discounts?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64D15-B75F-4BB2-93BE-B4783BA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CBF4A-FA2F-423D-AC43-A91B041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86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4CC16"/>
                </a:solidFill>
              </a:defRPr>
            </a:pPr>
            <a:r>
              <a:rPr sz="1200" b="1" i="0">
                <a:solidFill>
                  <a:srgbClr val="84CC16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3E7B3-3CC4-421C-A7AB-D6ECFC0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Which SKUs have cost leakage or poor mix?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F659F-41C2-4AEA-AE6A-F3A31D7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D4641-8FD1-4D80-8810-C7F192E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67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4CC16"/>
                </a:solidFill>
              </a:defRPr>
            </a:pPr>
            <a:r>
              <a:rPr sz="1200" b="1" i="0">
                <a:solidFill>
                  <a:srgbClr val="84CC16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A87C5-8285-4DA1-9255-08ED2AA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Which OPEX lines are controllable this month?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E9FE9-C57A-40A2-BB7B-776F4578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6FCA8-E9AD-4A71-867E-DDE4A32E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2FB62-D7A0-4734-94FC-B369C38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777082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34270-10E0-4404-864B-B788372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F5B21-8C23-45A8-A474-1B1B2F9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510D9-3340-4032-B36C-40ED2C43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COMMERCIAL PROFITABILITY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80918-726B-4DDD-9D40-0DC18A7F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Margin is a portfolio decision, not a single price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EEDB2-015C-4ACA-894D-37B3796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Use PVM and contribution-after-working-capital lenses to choose where to protect, fix or exit.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DCAE-8D52-4288-B621-1B00905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6E0BE-0531-4740-993F-7D809105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8580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B66EA-84AB-4950-B0FB-C72404A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Illustrative contribution bridge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781050" y="2762250"/>
          <a:ext xmlns:a="http://schemas.openxmlformats.org/drawingml/2006/main" cx="6191250" cy="2400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c758af67f84fa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74363-14AF-4B27-A3AC-29DE74AF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9624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675C1-9FAC-4CF5-8AF5-5E09F5F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Action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DD89A-F9A4-439D-8C62-F07DA6C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10287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93121-E1CE-47DC-9CDA-A0B4A19E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67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C50A0-6B2E-45F8-A58A-CC6D990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High CM / high 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14DA3-D1A6-4ED1-BA04-13C56D2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10287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B54708"/>
          </a:solidFill>
          <a:ln xmlns:a="http://schemas.openxmlformats.org/drawingml/2006/main" w="9525">
            <a:solidFill>
              <a:srgbClr val="B547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C2776-86BA-438C-9922-02EDEC6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498B5-4D2F-4B04-92D8-60A7A65A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High revenue / low 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828C6-8325-4B7C-A39B-11DA3DFF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0287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92DC4-AF6C-46A9-B1FF-A391204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4CE6B-64A0-4E03-AE4C-040D5B5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Price leakage or discount creep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51A40-89B5-4646-A523-D6E2AFC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10287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48160-8E44-4094-A29B-AB9829A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38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5307B-5DD4-48CA-8510-A2FC61F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Negative after-WC contribution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79404-1D81-4282-91F8-B8D187F0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57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86581"/>
                </a:solidFill>
              </a:defRPr>
            </a:pPr>
            <a:r>
              <a:rPr sz="1200" b="0" i="0">
                <a:solidFill>
                  <a:srgbClr val="486581"/>
                </a:solidFill>
              </a:rPr>
              <a:t>Commercial finance implication: show the profit pool and the cash cost together before approving growth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C00A7-DCF9-4235-9692-0A3C8E09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31B9B-E549-4013-BEF1-2DE691B9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C29D0-B56F-4F5F-8754-236CD87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999524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603093-B7A3-4EB6-8486-9B64E746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98F88-B94A-495D-8B60-2ACE206E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2E2E3-F6AE-45F5-9FBF-CECFCCCA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CASH CONVERSION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0AB3F-E331-4144-982C-D3EC6D9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Cash is tied up in receivables and inventory; the plan needs a funding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DC1F0-BE25-4CC0-B16B-345E6C39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Integrated statements are now linked: P&amp;L → working capital → cash flow → balance 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12FA2-6F9D-4734-998D-80780175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CC396-BF33-45D2-8BA7-378C2FB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D394F-810A-43E6-8B35-8C2D4C20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45F38-ACEC-4F86-87EF-EB43343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DSO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F3022-E4D4-4FEB-9DD8-434FA2B9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177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6C6C0-BBF7-4FBC-B8A8-BC9E15A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4708"/>
                </a:solidFill>
              </a:defRPr>
            </a:pPr>
            <a:r>
              <a:rPr sz="1050" b="1" i="0">
                <a:solidFill>
                  <a:srgbClr val="B54708"/>
                </a:solidFill>
              </a:rPr>
              <a:t>FY2025 calendar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67DFF-DA8B-4308-B1A3-703A984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7B4D3-9BEF-4B62-99EF-3EE93720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E6406-AB10-4740-ABB2-F67E489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FA310-C108-47C8-933A-CE53AC8A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180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CD47E-991F-4585-9D2F-0C3AEBA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4708"/>
                </a:solidFill>
              </a:defRPr>
            </a:pPr>
            <a:r>
              <a:rPr sz="1050" b="1" i="0">
                <a:solidFill>
                  <a:srgbClr val="B54708"/>
                </a:solidFill>
              </a:rPr>
              <a:t>inventory intensity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BF5B9-F7E3-405C-A3EE-7447827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6D507-7243-4710-8983-5B81610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0645E-D2AD-4562-B96C-E8C356C9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DPO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7518D-9DB0-4D13-B516-B4E5A354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200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F622C-B4E2-4256-9081-EE739FF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supplier funding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0D82C-E50F-4728-A514-60BA4B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2000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D7FB8-D2B8-48A4-BEA9-5C86D9CF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D516A-E829-452D-929F-97CC485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CFO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A0B10-B753-4F05-9A00-2A5836B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-14.4 bn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B26C3-2173-4D43-95E0-3A2BA9CC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2318"/>
                </a:solidFill>
              </a:defRPr>
            </a:pPr>
            <a:r>
              <a:rPr sz="1050" b="1" i="0">
                <a:solidFill>
                  <a:srgbClr val="B42318"/>
                </a:solidFill>
              </a:rPr>
              <a:t>FY2025 calendar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5D091-B8AD-4F1F-9AA5-95A1A43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2362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D2E54-44B9-48EC-904C-308554FF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711B9-B92F-4682-9E4D-36DC7A8F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29AB1"/>
                </a:solidFill>
              </a:defRPr>
            </a:pPr>
            <a:r>
              <a:rPr sz="975" b="1" i="0">
                <a:solidFill>
                  <a:srgbClr val="829AB1"/>
                </a:solidFill>
              </a:rPr>
              <a:t>CASH CLOSING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30459-029D-444B-9A9D-B681D50F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283D"/>
                </a:solidFill>
              </a:defRPr>
            </a:pPr>
            <a:r>
              <a:rPr sz="2100" b="1" i="0">
                <a:solidFill>
                  <a:srgbClr val="06283D"/>
                </a:solidFill>
              </a:rPr>
              <a:t>-30.8 bn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E2088-E8B5-480D-8FDA-110CE13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03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2318"/>
                </a:solidFill>
              </a:defRPr>
            </a:pPr>
            <a:r>
              <a:rPr sz="1050" b="1" i="0">
                <a:solidFill>
                  <a:srgbClr val="B42318"/>
                </a:solidFill>
              </a:rPr>
              <a:t>minimum-cash breach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52F4E-0D95-48BE-A170-35E3997E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6191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A9137C-CDE2-45BE-AE20-763275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Cash conversion cycle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mlns:a="http://schemas.openxmlformats.org/drawingml/2006/main" x="838200" y="4095750"/>
          <a:ext xmlns:a="http://schemas.openxmlformats.org/drawingml/2006/main" cx="542925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81e8274928453a"/>
          </a:graphicData>
        </a:graphic>
      </p:graphicFrame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BA9C8-3A40-4AFB-AE21-07C5DEB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6291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9525">
            <a:solidFill>
              <a:srgbClr val="0628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23443-BFCC-4A17-9769-F6D3DAE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57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EE3CF"/>
                </a:solidFill>
              </a:defRPr>
            </a:pPr>
            <a:r>
              <a:rPr sz="1650" b="1" i="0">
                <a:solidFill>
                  <a:srgbClr val="8EE3CF"/>
                </a:solidFill>
              </a:rPr>
              <a:t>Cash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72130-D005-42FE-8DF2-50C1BF2C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Release growth capex only after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58ADB6-5074-459D-94B7-8154CC82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4CC16"/>
                </a:solidFill>
              </a:defRPr>
            </a:pPr>
            <a:r>
              <a:rPr sz="1875" b="1" i="0">
                <a:solidFill>
                  <a:srgbClr val="84CC16"/>
                </a:solidFill>
              </a:rPr>
              <a:t>CFO turns positive and cash ≥ minimum buffer.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08F8CF-85A3-4E32-B7F6-1C6A2382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9EAF1"/>
                </a:solidFill>
              </a:defRPr>
            </a:pPr>
            <a:r>
              <a:rPr sz="1125" b="0" i="0">
                <a:solidFill>
                  <a:srgbClr val="D9EAF1"/>
                </a:solidFill>
              </a:rPr>
              <a:t>The negative cash result is a deliberate stress signal for working-capital discipline, not a live company forecast.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B6EA2F-FB2F-4C61-8655-07BA53F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F970C-920A-429B-BF97-B7DF476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4253CC-F77F-4C6F-B43D-AAD743B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513904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EE294-69CA-44AE-A3A9-695D92A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29285-9164-40D3-9FFE-40A6308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F31C-93F3-461A-9E3E-825BA31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FORECAST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E22AD-E014-46C6-8BCA-4AF32340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Versioned snapshots make forecast accuracy auditable instead of anecdotal.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EA6A2-CBDA-437F-B4AD-DAFD573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The rehearsal freezes Budget, rolling forecasts and latest estimate at a fixed cutoff; live accuracy remains input-gated.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EEE9-508E-492B-B6E2-387A829D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D21F-1DED-43C9-B5E2-0B58E6FD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72390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6AC2-8475-4CFB-89A8-F4C7B5F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Average WAPE by frozen version (synthetic rehearsal)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838200" y="2857500"/>
          <a:ext xmlns:a="http://schemas.openxmlformats.org/drawingml/2006/main" cx="657225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35c45a8acf4a5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B848F-D8CE-463A-B688-53F7AFC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581400" cy="37719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9525">
            <a:solidFill>
              <a:srgbClr val="0628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32684-C6AD-4E41-86BB-E086766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EE3CF"/>
                </a:solidFill>
              </a:defRPr>
            </a:pPr>
            <a:r>
              <a:rPr sz="1650" b="1" i="0">
                <a:solidFill>
                  <a:srgbClr val="8EE3CF"/>
                </a:solidFill>
              </a:rPr>
              <a:t>Control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6A32A-5A58-491E-A6CD-2389575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4CC16"/>
                </a:solidFill>
              </a:defRPr>
            </a:pPr>
            <a:r>
              <a:rPr sz="150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25D6B-B066-4866-8C70-095F2E5A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47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Fixed cutoff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8146D-9BA0-4943-A7B1-B11C7CA7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4CC16"/>
                </a:solidFill>
              </a:defRPr>
            </a:pPr>
            <a:r>
              <a:rPr sz="150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CF174-5695-40B1-95A1-9291690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05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No actuals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A12BC-7343-4335-9E8F-E8B8FFF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4CC16"/>
                </a:solidFill>
              </a:defRPr>
            </a:pPr>
            <a:r>
              <a:rPr sz="150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2FBE-B6F1-4A3F-8D9B-A4207A0A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62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Version bridge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59238-3B60-4515-90C7-729B282E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4CC16"/>
                </a:solidFill>
              </a:defRPr>
            </a:pPr>
            <a:r>
              <a:rPr sz="150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CFCC4-72A6-41DD-93D1-E168E8F9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95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Override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434DF-7E61-4138-8EE4-F0283DDA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4CC16"/>
                </a:solidFill>
              </a:defRPr>
            </a:pPr>
            <a:r>
              <a:rPr sz="150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A4CA3-31ED-4C01-BB28-BC7627D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Bias / WAPE /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6DE76-B2B5-4B6C-A46B-320F1D9B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57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9EAF1"/>
                </a:solidFill>
              </a:defRPr>
            </a:pPr>
            <a:r>
              <a:rPr sz="1125" b="0" i="0">
                <a:solidFill>
                  <a:srgbClr val="D9EAF1"/>
                </a:solidFill>
              </a:rPr>
              <a:t>Live Gate A: approved internal pre-close snapshots + post-close actuals.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A66C5-F993-4A52-9063-CE652E7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7F964-DC13-4F64-B6D7-57C951D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23BEC-E43A-4DB1-B15B-422D5E12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21007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EFCDB-93F7-489A-8763-7379B27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DCE8B-3174-4B4E-94CF-6A738120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533D9-74AF-4C99-BE48-1BD6D0CA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OPERATING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312F8-D5B1-47E5-8611-0E39647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The three-year plan converts drivers into an explicit funding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001B3-6707-466B-B680-72A3DDEA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FY2026 is monthly for review cadence; FY2027–FY2028 are quarterly for planning horizon.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B0528-6DD6-4F3F-9359-86F5ACAB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1DBF9-A89B-4D64-800F-A68165C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714375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E2DCD-4B97-437A-B5F6-8187CED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Revenue trajectory (VND bn)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00100" y="2857500"/>
          <a:ext xmlns:a="http://schemas.openxmlformats.org/drawingml/2006/main" cx="657225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d9bacadc0343b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0BD7C-8684-4B3A-A8A0-9441CC82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676650" cy="377190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9525">
            <a:solidFill>
              <a:srgbClr val="0628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2C409-4D23-4A2F-B122-CABE53CD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EE3CF"/>
                </a:solidFill>
              </a:defRPr>
            </a:pPr>
            <a:r>
              <a:rPr sz="1650" b="1" i="0">
                <a:solidFill>
                  <a:srgbClr val="8EE3CF"/>
                </a:solidFill>
              </a:rPr>
              <a:t>Plan 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251FE-C602-4EF2-A336-09B97515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60 periods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44C8B-9978-42A0-9C9A-100F865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AF1"/>
                </a:solidFill>
              </a:defRPr>
            </a:pPr>
            <a:r>
              <a:rPr sz="1200" b="0" i="0">
                <a:solidFill>
                  <a:srgbClr val="D9EAF1"/>
                </a:solidFill>
              </a:rPr>
              <a:t>36 monthly + 24 quarterly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4A23-CC06-47E8-8EB8-36501DE0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0B34F-1C87-4518-BC35-387B6AE0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4CC16"/>
                </a:solidFill>
              </a:defRPr>
            </a:pPr>
            <a:r>
              <a:rPr sz="2175" b="1" i="0">
                <a:solidFill>
                  <a:srgbClr val="84CC16"/>
                </a:solidFill>
              </a:rPr>
              <a:t>4 initiatives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CD4C0-F7F2-4760-BB5E-D826BED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38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AF1"/>
                </a:solidFill>
              </a:defRPr>
            </a:pPr>
            <a:r>
              <a:rPr sz="1200" b="0" i="0">
                <a:solidFill>
                  <a:srgbClr val="D9EAF1"/>
                </a:solidFill>
              </a:rPr>
              <a:t>owner • investment • benefit • kill criteria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B9B4E-D002-429F-9E11-137C0F5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9EAF1"/>
                </a:solidFill>
              </a:defRPr>
            </a:pPr>
            <a:r>
              <a:rPr sz="1125" b="0" i="0">
                <a:solidFill>
                  <a:srgbClr val="D9EAF1"/>
                </a:solidFill>
              </a:rPr>
              <a:t>No terminal growth is used; the model remains a planning rehearsal.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EB5FE-8022-4EBE-9EBA-5A1A5C51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FE244-F702-42D8-BB99-BF47FEC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4EA39-32AC-4C90-9537-3CEC0C9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093192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C7DA6-C892-4C3B-A4B2-E52A54A4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7B767-188D-44B3-8FAC-A1F98A1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770FF-9045-422D-BA47-51CB137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COSTING &amp; SUPPLY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5D7A7-B23D-46AA-AC31-816FD6D1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Standard cost turns a gross-margin miss into an operational action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46C4-A585-4A2C-81FA-78F4F94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The cost bridge separates purchase price, usage/yield and conversion overhead; reserve is treated as a distinct cash/profit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57C40-3483-4E29-BCE5-482AFB6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F2AB3-93D6-486A-9703-CCFA87E7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8580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C1175-C629-4C99-BC0D-51290D7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Illustrative standard-cost variance (VND bn)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38200" y="2857500"/>
          <a:ext xmlns:a="http://schemas.openxmlformats.org/drawingml/2006/main" cx="6191250" cy="2247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efd75c2b34457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7F587-DF12-4B27-930C-AF47709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9624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5B29F-0F32-40A9-A057-B816F6D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283D"/>
                </a:solidFill>
              </a:defRPr>
            </a:pPr>
            <a:r>
              <a:rPr sz="1650" b="1" i="0">
                <a:solidFill>
                  <a:srgbClr val="06283D"/>
                </a:solidFill>
              </a:rPr>
              <a:t>Operating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FF906-A048-4916-8096-6F40EAC3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B39DF-7A9C-437E-A939-32E732D9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Lock supplier price assumptions at freeze.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0BA87-AC38-474D-9BC2-EE3B866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E876A-D244-42C6-9120-E2B795B7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Review yield loss by SKU / plant.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22FB1-EA6E-459A-A8C3-5067A2F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A18A0-6A71-4B6C-8EBF-25247AB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Escalate conversion overhead absorption.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8A401-4A8E-4568-B41E-3888F2B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339F9-E9FC-4F66-8795-4306958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Track reserve separately: 3.7 bn.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9172A-F51B-4273-8FFC-4BE12C97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2F532-82E6-4166-AD7D-74C02E6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8E50C-C7AB-4BF7-85E5-7DEEAFF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5687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B6A8BB-1C22-4EEC-8E00-4348D216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628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58B69-DE2C-4006-AFEE-32DBDF36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VIETNOVA / FINANCE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CF433-4968-47FC-9899-6971D0CF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ACTIONS &amp; RISKS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E0A6D-600A-4665-AD9F-C40D70F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283D"/>
                </a:solidFill>
              </a:defRPr>
            </a:pPr>
            <a:r>
              <a:rPr sz="2700" b="1" i="0">
                <a:solidFill>
                  <a:srgbClr val="06283D"/>
                </a:solidFill>
              </a:rPr>
              <a:t>Every insight must end with an owner, a date and a guardrail.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5C28F-2303-4DA9-8A8C-09712539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86581"/>
                </a:solidFill>
              </a:defRPr>
            </a:pPr>
            <a:r>
              <a:rPr sz="1350" b="0" i="0">
                <a:solidFill>
                  <a:srgbClr val="486581"/>
                </a:solidFill>
              </a:rPr>
              <a:t>The register is designed for the monthly operating review: prioritise, assign, measure, close.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A27B4-2CD5-476C-9A2B-3476B341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B511D-B938-4747-B471-2D756301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D29C0-F463-4B60-8130-F842ABF3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Prio.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FE78E-7C65-4135-AC3A-CA0668CF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Risk / opportunity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54725-27AE-4A04-9D86-52532AE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241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B0FAF-49A6-4724-901B-B69532B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241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3D850-783E-46A3-B647-23397BA9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Guardrail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82500-AC1F-412A-9AD6-F67BDEE2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241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29AB1"/>
                </a:solidFill>
              </a:defRPr>
            </a:pPr>
            <a:r>
              <a:rPr sz="1050" b="1" i="0">
                <a:solidFill>
                  <a:srgbClr val="829AB1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48D1D-B5DF-45CB-90F3-26D8744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6AB2D-8948-4A5D-B9BA-45406B16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</a:defRPr>
            </a:pPr>
            <a:r>
              <a:rPr sz="1125" b="1" i="0">
                <a:solidFill>
                  <a:srgbClr val="B42318"/>
                </a:solidFill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19BBC-2C8C-4FBE-A133-0FF3B75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Cash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8538F-CDD2-4324-8813-7133A04C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Finance + 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E24AA-E757-432D-A4A5-00398320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Reduce DSO / protect 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AB77A-5340-4B78-A8AC-50DC0D4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≤ 58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25802-7F9D-4982-96CA-05C3132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5D15-E416-4F2D-89FE-91B9C24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146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4708"/>
                </a:solidFill>
              </a:defRPr>
            </a:pPr>
            <a:r>
              <a:rPr sz="975" b="1" i="0">
                <a:solidFill>
                  <a:srgbClr val="B54708"/>
                </a:solidFill>
              </a:rPr>
              <a:t>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4A422-8A51-4991-9B63-68E4B606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688B6-E5E4-44C4-AC38-E925DE63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</a:defRPr>
            </a:pPr>
            <a:r>
              <a:rPr sz="1125" b="1" i="0">
                <a:solidFill>
                  <a:srgbClr val="B42318"/>
                </a:solidFill>
              </a:rPr>
              <a:t>P0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E7E25-9212-44DE-AC3D-A424E0B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Inventory ageing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8BC27-57CD-40B7-92F6-EC71EB8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Supply chain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883C9-4EE3-432B-BC5D-D908F7F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19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Cut slow-moving stock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10EC0-05D9-4129-9A82-AB9A5CA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194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DIO ≤ 165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29726-BD19-4F27-8D0E-B472403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1375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75812-EE42-4840-BC9E-4209CB9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385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4708"/>
                </a:solidFill>
              </a:defRPr>
            </a:pPr>
            <a:r>
              <a:rPr sz="975" b="1" i="0">
                <a:solidFill>
                  <a:srgbClr val="B54708"/>
                </a:solidFill>
              </a:rPr>
              <a:t>Open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AEC0E-9598-4D77-83FE-7A3AA75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C0A1D-7E6B-49BA-9DF3-EA3E07E3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08"/>
                </a:solidFill>
              </a:defRPr>
            </a:pPr>
            <a:r>
              <a:rPr sz="1125" b="1" i="0">
                <a:solidFill>
                  <a:srgbClr val="B54708"/>
                </a:solidFill>
              </a:rPr>
              <a:t>P1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E1168-0503-419A-B147-A6EA3CE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Discount leakage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AE421-E326-45FE-83C5-41868750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Commercial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F695F1-4593-490C-BE1D-B716411C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Reprice / approval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C2FC8-E5D8-4810-85E8-C2C97193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GM ≥ 47%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A1C506-BF73-44B0-8E29-40C95673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160175-83B6-4915-A794-69FE5F2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62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4708"/>
                </a:solidFill>
              </a:defRPr>
            </a:pPr>
            <a:r>
              <a:rPr sz="975" b="1" i="0">
                <a:solidFill>
                  <a:srgbClr val="B54708"/>
                </a:solidFill>
              </a:rPr>
              <a:t>Open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7EBEA-763A-41B0-B2F6-1E1A713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081B1D-4B6B-4BAF-9298-1DC3461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08"/>
                </a:solidFill>
              </a:defRPr>
            </a:pPr>
            <a:r>
              <a:rPr sz="1125" b="1" i="0">
                <a:solidFill>
                  <a:srgbClr val="B54708"/>
                </a:solidFill>
              </a:rPr>
              <a:t>P1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6FE7E6-F631-4AED-9421-F18A40C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67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Cost variance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29630A-7E06-4501-A14C-7389CDB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67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Procurement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DD2159-7274-449F-B3B0-4BB387E4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67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Lock supplier terms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E476A7-1FD2-48F0-9059-2D12775B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Bridge ≤ 0.5 bn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9A5EA4-1AA9-4D30-8469-BBBC714B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0714DE-BF97-4380-A1CF-F243DF9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86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4708"/>
                </a:solidFill>
              </a:defRPr>
            </a:pPr>
            <a:r>
              <a:rPr sz="975" b="1" i="0">
                <a:solidFill>
                  <a:srgbClr val="B54708"/>
                </a:solidFill>
              </a:rPr>
              <a:t>Open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2EA90F-9F8B-4812-840C-A868FAF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74C13A-3D3D-4674-A9C4-CE706B77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08"/>
                </a:solidFill>
              </a:defRPr>
            </a:pPr>
            <a:r>
              <a:rPr sz="1125" b="1" i="0">
                <a:solidFill>
                  <a:srgbClr val="B54708"/>
                </a:solidFill>
              </a:rPr>
              <a:t>P2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94BB56-E7D8-42EA-B584-0F9A867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Forecast cadence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2A5158-786C-4F5E-A5F2-223DF395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91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FP&amp;A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806CB4-0E29-4D27-8464-C62B8F60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Freeze monthly snapshots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1B0474-9080-4DC8-9CC8-88A0D204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911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Cutoff met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81A4E0-743A-4E79-9788-0230DFA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7E80C0-0050-418B-B7A1-E40C7E1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803D"/>
                </a:solidFill>
              </a:defRPr>
            </a:pPr>
            <a:r>
              <a:rPr sz="975" b="1" i="0">
                <a:solidFill>
                  <a:srgbClr val="15803D"/>
                </a:solidFill>
              </a:rPr>
              <a:t>Ready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641309-6AE7-4362-B3A7-ED1BB2D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A3EF1E-0078-489F-AC78-B3BB02B7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SIMULATED / DERIVED — non-live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71729E-C940-4006-B1E9-3C135A70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10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29AB1"/>
                </a:solidFill>
              </a:defRPr>
            </a:pPr>
            <a:r>
              <a:rPr sz="900" b="0" i="0">
                <a:solidFill>
                  <a:srgbClr val="829AB1"/>
                </a:solidFill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606103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7FFDE-DDDB-4BB5-834B-AB71DB9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7D37D-BA7F-4A2E-A54B-70BDAF85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EE3CF"/>
                </a:solidFill>
              </a:defRPr>
            </a:pPr>
            <a:r>
              <a:rPr sz="1125" b="1" i="0">
                <a:solidFill>
                  <a:srgbClr val="8EE3CF"/>
                </a:solidFill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20A3F-53C0-4146-9C9E-217631A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Approve the base plan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with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CC42B-F602-4AA3-9E96-BE77E02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9F5F0"/>
                </a:solidFill>
              </a:defRPr>
            </a:pPr>
            <a:r>
              <a:rPr sz="1875" b="0" i="0">
                <a:solidFill>
                  <a:srgbClr val="D9F5F0"/>
                </a:solidFill>
              </a:rPr>
              <a:t>The finance analyst role is to connect the number to the decision — and make the decision repeatable next month.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4D652-7902-4E7D-865E-30601A6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9525">
            <a:solidFill>
              <a:srgbClr val="1E5A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08F16-80A5-40FB-A5FB-748A2CE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EE3CF"/>
                </a:solidFill>
              </a:defRPr>
            </a:pPr>
            <a:r>
              <a:rPr sz="1050" b="1" i="0">
                <a:solidFill>
                  <a:srgbClr val="8EE3CF"/>
                </a:solidFill>
              </a:rPr>
              <a:t>NEXT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3027-26E3-4989-880F-FAD5C6BA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Close Gate A with approved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forecast + post-close actuals.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8FA63-8BC2-405D-8E98-62F140A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EE3CF"/>
                </a:solidFill>
              </a:defRPr>
            </a:pPr>
            <a:r>
              <a:rPr sz="1650" b="1" i="0">
                <a:solidFill>
                  <a:srgbClr val="8EE3CF"/>
                </a:solidFill>
              </a:rPr>
              <a:t>Evidence pack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EA8CE-D6FF-4975-983C-F7D02687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4CC16"/>
                </a:solidFill>
              </a:defRPr>
            </a:pPr>
            <a:r>
              <a:rPr sz="135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E813E-07D5-457E-927A-9332548D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Three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03228-8D00-46D0-ADEE-F769555C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4CC16"/>
                </a:solidFill>
              </a:defRPr>
            </a:pPr>
            <a:r>
              <a:rPr sz="135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C5794-1B0E-4CBF-A51A-B054BB0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86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3-year driver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B260F-E691-49DE-873A-8E17B1AD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4CC16"/>
                </a:solidFill>
              </a:defRPr>
            </a:pPr>
            <a:r>
              <a:rPr sz="135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74F9B-8E71-47D8-9268-01439677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1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Forecast versioning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D0DC4-18F9-4367-878E-6C0DCAA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34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4CC16"/>
                </a:solidFill>
              </a:defRPr>
            </a:pPr>
            <a:r>
              <a:rPr sz="135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9534A-C04E-4739-8841-4716DF5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34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Costing &amp; reserve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B264-F78F-4A7F-AD27-04429496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578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4CC16"/>
                </a:solidFill>
              </a:defRPr>
            </a:pPr>
            <a:r>
              <a:rPr sz="1350" b="1" i="0">
                <a:solidFill>
                  <a:srgbClr val="84CC16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B1E44-F9D1-45CB-83C9-5387E4C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57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Management register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187CD-B7E3-40E2-A3B5-38DED41A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9C8D8"/>
                </a:solidFill>
              </a:defRPr>
            </a:pPr>
            <a:r>
              <a:rPr sz="1050" b="0" i="0">
                <a:solidFill>
                  <a:srgbClr val="A9C8D8"/>
                </a:solidFill>
              </a:rPr>
              <a:t>All figures are synthetic / derived and clearly labelled in the release package.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90642-2428-4B3A-8E34-2EE4515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9C8D8"/>
                </a:solidFill>
              </a:defRPr>
            </a:pPr>
            <a:r>
              <a:rPr sz="1050" b="0" i="0">
                <a:solidFill>
                  <a:srgbClr val="A9C8D8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7144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2026-09-01T10:43:08.4430000Z</dcterms:created>
  <dcterms:modified xsi:type="dcterms:W3CDTF">2026-09-01T10:43:08.4430000Z</dcterms:modified>
</coreProperties>
</file>